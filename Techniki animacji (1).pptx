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5" r:id="rId4"/>
    <p:sldId id="258" r:id="rId5"/>
    <p:sldId id="259" r:id="rId6"/>
    <p:sldId id="276" r:id="rId7"/>
    <p:sldId id="260" r:id="rId8"/>
    <p:sldId id="277" r:id="rId9"/>
    <p:sldId id="261" r:id="rId10"/>
    <p:sldId id="278" r:id="rId11"/>
    <p:sldId id="262" r:id="rId12"/>
    <p:sldId id="279" r:id="rId13"/>
    <p:sldId id="263" r:id="rId14"/>
    <p:sldId id="280" r:id="rId15"/>
    <p:sldId id="264" r:id="rId16"/>
    <p:sldId id="281" r:id="rId17"/>
    <p:sldId id="265" r:id="rId18"/>
    <p:sldId id="282" r:id="rId19"/>
    <p:sldId id="266" r:id="rId20"/>
    <p:sldId id="283" r:id="rId21"/>
    <p:sldId id="267" r:id="rId22"/>
    <p:sldId id="284" r:id="rId23"/>
    <p:sldId id="268" r:id="rId24"/>
    <p:sldId id="285" r:id="rId25"/>
    <p:sldId id="269" r:id="rId26"/>
    <p:sldId id="286" r:id="rId27"/>
    <p:sldId id="270" r:id="rId28"/>
    <p:sldId id="271" r:id="rId29"/>
    <p:sldId id="287" r:id="rId30"/>
    <p:sldId id="272" r:id="rId31"/>
    <p:sldId id="273" r:id="rId32"/>
    <p:sldId id="274" r:id="rId33"/>
  </p:sldIdLst>
  <p:sldSz cx="18288000" cy="10287000"/>
  <p:notesSz cx="6858000" cy="9144000"/>
  <p:embeddedFontLst>
    <p:embeddedFont>
      <p:font typeface="League Spartan" panose="020B0604020202020204" charset="-18"/>
      <p:regular r:id="rId34"/>
    </p:embeddedFont>
    <p:embeddedFont>
      <p:font typeface="Poppins" panose="00000500000000000000" pitchFamily="2" charset="-18"/>
      <p:regular r:id="rId35"/>
    </p:embeddedFont>
    <p:embeddedFont>
      <p:font typeface="Poppins Bold" panose="020B0604020202020204" charset="-18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fK48id82pho?feature=oembed" TargetMode="Externa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lmef53BICBc?feature=oembed" TargetMode="Externa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u1EPO9uqNY0?feature=oembed" TargetMode="Externa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eB2lagODyWE?feature=oembed" TargetMode="Externa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SjIo2H_h5R0?feature=oembed" TargetMode="External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uLrlLDLJpMo?feature=oembed" TargetMode="External"/><Relationship Id="rId4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IlKEybkVl0M?feature=oembed" TargetMode="External"/><Relationship Id="rId4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-za4jdgvj5I?feature=oembed" TargetMode="External"/><Relationship Id="rId4" Type="http://schemas.openxmlformats.org/officeDocument/2006/relationships/image" Target="../media/image9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flSLI2JmWVE?feature=oembed" TargetMode="External"/><Relationship Id="rId4" Type="http://schemas.openxmlformats.org/officeDocument/2006/relationships/image" Target="../media/image1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jHAaVrR4LZs?feature=oembed" TargetMode="External"/><Relationship Id="rId4" Type="http://schemas.openxmlformats.org/officeDocument/2006/relationships/image" Target="../media/image1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explainvisually.co/animacje-typu-whiteboard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AMy86RrGhJw?feature=oembed" TargetMode="External"/><Relationship Id="rId5" Type="http://schemas.openxmlformats.org/officeDocument/2006/relationships/image" Target="../media/image12.jpeg"/><Relationship Id="rId4" Type="http://schemas.openxmlformats.org/officeDocument/2006/relationships/hyperlink" Target="https://explainvisually.co/animacje-typu-whiteboard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explainvisually.co/animacje-typu-whiteboard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HyKLKI-iQMU?feature=oembed" TargetMode="External"/><Relationship Id="rId5" Type="http://schemas.openxmlformats.org/officeDocument/2006/relationships/image" Target="../media/image13.jpeg"/><Relationship Id="rId4" Type="http://schemas.openxmlformats.org/officeDocument/2006/relationships/hyperlink" Target="https://explainvisually.co/animacje-typu-whiteboard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explainvisually.co/animacje-typu-whiteboard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explainvisually.co/animacje-typu-whiteboard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I6-zN_eaRd8?feature=oembed" TargetMode="External"/><Relationship Id="rId5" Type="http://schemas.openxmlformats.org/officeDocument/2006/relationships/image" Target="../media/image15.jpeg"/><Relationship Id="rId4" Type="http://schemas.openxmlformats.org/officeDocument/2006/relationships/hyperlink" Target="https://explainvisually.co/animacje-typu-whiteboard/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explainvisually.co/animacje-typu-whiteboard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explainvisually.co/animacje-typu-whiteboard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ApM76d4tsHY?feature=oembed" TargetMode="External"/><Relationship Id="rId5" Type="http://schemas.openxmlformats.org/officeDocument/2006/relationships/image" Target="../media/image16.jpeg"/><Relationship Id="rId4" Type="http://schemas.openxmlformats.org/officeDocument/2006/relationships/hyperlink" Target="https://explainvisually.co/animacje-typu-whiteboard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/>
          <p:cNvGrpSpPr/>
          <p:nvPr/>
        </p:nvGrpSpPr>
        <p:grpSpPr>
          <a:xfrm>
            <a:off x="-1456080" y="373931"/>
            <a:ext cx="3086100" cy="2171499"/>
            <a:chOff x="0" y="0"/>
            <a:chExt cx="812800" cy="5719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72185" y="2450180"/>
            <a:ext cx="16230600" cy="4903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7"/>
              </a:lnSpc>
            </a:pPr>
            <a:r>
              <a:rPr lang="en-US" sz="309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Animacja stała się integralną częścią komunikacji wizualnej w różnych branżach, w tym w rozrywce, marketingu i edukacji. Opanowanie różnych technik animacji pozwala artystom i projektantom skutecznie przekazywać złożone idee i angażować odbiorców w wyjątkowy sposób.</a:t>
            </a:r>
          </a:p>
          <a:p>
            <a:pPr algn="l">
              <a:lnSpc>
                <a:spcPts val="4327"/>
              </a:lnSpc>
            </a:pPr>
            <a:endParaRPr lang="en-US" sz="3091">
              <a:solidFill>
                <a:srgbClr val="30364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327"/>
              </a:lnSpc>
              <a:spcBef>
                <a:spcPct val="0"/>
              </a:spcBef>
            </a:pPr>
            <a:r>
              <a:rPr lang="en-US" sz="309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Animacja zrewolucjonizowała wizualne opowiadanie historii i komunikację, oferując twórcom szeroki wachlarz technik do opanowania. Od klasycznych metod rysowania ręcznego po najnowocześniejsze innowacje cyfrowe, każde podejście zapewnia odrębne możliwości twórcze.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744950" y="373931"/>
            <a:ext cx="3086100" cy="2171499"/>
            <a:chOff x="0" y="0"/>
            <a:chExt cx="812800" cy="57191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264442" y="1081856"/>
            <a:ext cx="984608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ANIMACJA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/>
          <p:cNvGrpSpPr/>
          <p:nvPr/>
        </p:nvGrpSpPr>
        <p:grpSpPr>
          <a:xfrm>
            <a:off x="-1456080" y="373931"/>
            <a:ext cx="3086100" cy="2171499"/>
            <a:chOff x="0" y="0"/>
            <a:chExt cx="812800" cy="5719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44950" y="373931"/>
            <a:ext cx="3086100" cy="2171499"/>
            <a:chOff x="0" y="0"/>
            <a:chExt cx="812800" cy="5719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72185" y="2450180"/>
            <a:ext cx="16230600" cy="3274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7"/>
              </a:lnSpc>
              <a:spcBef>
                <a:spcPct val="0"/>
              </a:spcBef>
            </a:pPr>
            <a:r>
              <a:rPr lang="en-US" sz="309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Animacja wektorowa 2D jest kluczową techniką w nowoczesnej animacji cyfrowej, szczególnie w przypadku treści marketingowych. Wykorzystuje oprogramowanie komputerowe do tworzenia skalowalnej grafiki na podstawie równań matematycznych. Proces ten obejmuje projektowanie elementów wektorowych, które można łatwo modyfikować i przenosić, a oprogramowanie automatycznie tworzy płynne przejścia między klatkami kluczowymi.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64442" y="1081856"/>
            <a:ext cx="984608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ANIMACJA WEKTOROWA 2D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5E2FA-331D-A201-DC1E-E6ADD7E38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0227966-2C62-EC2C-8C99-F008C8A64D4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EA22CEC-2A45-B379-D782-995C4EC53247}"/>
              </a:ext>
            </a:extLst>
          </p:cNvPr>
          <p:cNvGrpSpPr/>
          <p:nvPr/>
        </p:nvGrpSpPr>
        <p:grpSpPr>
          <a:xfrm>
            <a:off x="-1456080" y="373931"/>
            <a:ext cx="3086100" cy="2171499"/>
            <a:chOff x="0" y="0"/>
            <a:chExt cx="812800" cy="57191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35CA4BD-D221-9F1D-C543-4E79C0D40D25}"/>
                </a:ext>
              </a:extLst>
            </p:cNvPr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3F93AD1-7683-B332-9F40-BFDE619FCE1E}"/>
                </a:ext>
              </a:extLst>
            </p:cNvPr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57315A0-6B5C-48E5-EBE6-C4448FBB021C}"/>
              </a:ext>
            </a:extLst>
          </p:cNvPr>
          <p:cNvGrpSpPr/>
          <p:nvPr/>
        </p:nvGrpSpPr>
        <p:grpSpPr>
          <a:xfrm>
            <a:off x="16744950" y="373931"/>
            <a:ext cx="3086100" cy="2171499"/>
            <a:chOff x="0" y="0"/>
            <a:chExt cx="812800" cy="5719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29FB4FA-FEFD-5213-D0AC-37DBC3FA59F3}"/>
                </a:ext>
              </a:extLst>
            </p:cNvPr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DB1769E-6F6E-1E7D-C956-B4E4A5395986}"/>
                </a:ext>
              </a:extLst>
            </p:cNvPr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152024A4-D638-35C3-0D24-E52E3CFDA6ED}"/>
              </a:ext>
            </a:extLst>
          </p:cNvPr>
          <p:cNvSpPr txBox="1"/>
          <p:nvPr/>
        </p:nvSpPr>
        <p:spPr>
          <a:xfrm>
            <a:off x="4264442" y="1081856"/>
            <a:ext cx="984608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ANIMACJA WEKTOROWA 2D</a:t>
            </a:r>
          </a:p>
        </p:txBody>
      </p:sp>
      <p:pic>
        <p:nvPicPr>
          <p:cNvPr id="11" name="Multimedia online 10" title="Technology Plasmacluster - animation">
            <a:hlinkClick r:id="" action="ppaction://media"/>
            <a:extLst>
              <a:ext uri="{FF2B5EF4-FFF2-40B4-BE49-F238E27FC236}">
                <a16:creationId xmlns:a16="http://schemas.microsoft.com/office/drawing/2014/main" id="{030C67FD-035A-84B5-0349-1303F007D35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048000" y="1701800"/>
            <a:ext cx="12192000" cy="688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822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/>
          <p:cNvGrpSpPr/>
          <p:nvPr/>
        </p:nvGrpSpPr>
        <p:grpSpPr>
          <a:xfrm>
            <a:off x="-1456080" y="373931"/>
            <a:ext cx="3086100" cy="2171499"/>
            <a:chOff x="0" y="0"/>
            <a:chExt cx="812800" cy="5719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44950" y="373931"/>
            <a:ext cx="3086100" cy="2171499"/>
            <a:chOff x="0" y="0"/>
            <a:chExt cx="812800" cy="5719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72185" y="2450180"/>
            <a:ext cx="16230600" cy="6531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7"/>
              </a:lnSpc>
            </a:pPr>
            <a:r>
              <a:rPr lang="en-US" sz="309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Animacja rysowana ręcznie to tradycyjne podejście do tworzenia animowanych treści, w którym wykwalifikowani artyści tworzą każdą klatkę ręcznie. </a:t>
            </a:r>
          </a:p>
          <a:p>
            <a:pPr algn="l">
              <a:lnSpc>
                <a:spcPts val="4327"/>
              </a:lnSpc>
            </a:pPr>
            <a:endParaRPr lang="en-US" sz="3091">
              <a:solidFill>
                <a:srgbClr val="30364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327"/>
              </a:lnSpc>
            </a:pPr>
            <a:r>
              <a:rPr lang="en-US" sz="309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Choć historycznie pracochłonny i kosztowny, integracja narzędzi cyfrowych usprawniła proces, zmniejszając czas produkcji i wydatki. Nowoczesne oprogramowanie pomaga na różnych etapach, zachowując jednocześnie charakterystyczną estetykę ręcznego wykonania.</a:t>
            </a:r>
          </a:p>
          <a:p>
            <a:pPr algn="l">
              <a:lnSpc>
                <a:spcPts val="4327"/>
              </a:lnSpc>
              <a:spcBef>
                <a:spcPct val="0"/>
              </a:spcBef>
            </a:pPr>
            <a:r>
              <a:rPr lang="en-US" sz="309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Koncepcja animacji rysowanej ręcznie sięga czasów fenakistoskopu, wynalezionego przez Josepha Plateau w 1832 roku. To wczesne urządzenie do animacji wykorzystywało wirujący dysk z sekwencyjnymi rysunkami, aby stworzyć iluzję ruchu, kładąc podwaliny pod nowoczesne techniki animacji.</a:t>
            </a:r>
          </a:p>
          <a:p>
            <a:pPr algn="l">
              <a:lnSpc>
                <a:spcPts val="4327"/>
              </a:lnSpc>
              <a:spcBef>
                <a:spcPct val="0"/>
              </a:spcBef>
            </a:pPr>
            <a:endParaRPr lang="en-US" sz="3091">
              <a:solidFill>
                <a:srgbClr val="30364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264442" y="1081856"/>
            <a:ext cx="984608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ANIMACJA RYSOWANA RĘCZNIE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/>
          <p:cNvGrpSpPr/>
          <p:nvPr/>
        </p:nvGrpSpPr>
        <p:grpSpPr>
          <a:xfrm>
            <a:off x="-1456080" y="373931"/>
            <a:ext cx="3086100" cy="2171499"/>
            <a:chOff x="0" y="0"/>
            <a:chExt cx="812800" cy="5719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44950" y="373931"/>
            <a:ext cx="3086100" cy="2171499"/>
            <a:chOff x="0" y="0"/>
            <a:chExt cx="812800" cy="5719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72185" y="2450180"/>
            <a:ext cx="16230600" cy="7074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7"/>
              </a:lnSpc>
            </a:pPr>
            <a:r>
              <a:rPr lang="en-US" sz="309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Animacja 3D, czyli obrazowanie generowane komputerowo (CGI), stała się dominującym formatem współczesnych filmów animowanych. Działa w przestrzeni trójwymiarowej, wykorzystując cyfrowe modele postaci, obiektów i środowisk. Proces obejmuje tworzenie szczegółowych modeli 3D i korzystanie z zaawansowanego oprogramowania w celu generowania złożonych ruchów i interakcji. Animacja 3D oferuje wszechstronność, umożliwiając renderowanie hiperrealistycznych wizualizacji lub stylizowanych interpretacji artystycznych.</a:t>
            </a:r>
          </a:p>
          <a:p>
            <a:pPr algn="l">
              <a:lnSpc>
                <a:spcPts val="4327"/>
              </a:lnSpc>
            </a:pPr>
            <a:endParaRPr lang="en-US" sz="3091">
              <a:solidFill>
                <a:srgbClr val="30364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327"/>
              </a:lnSpc>
              <a:spcBef>
                <a:spcPct val="0"/>
              </a:spcBef>
            </a:pPr>
            <a:r>
              <a:rPr lang="en-US" sz="309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Ta technika jest szczególnie skuteczna w przypadku treści informacyjnych i demonstracyjnych, dokładnie przedstawiając obiekty fizyczne i przestrzenie. Jest nieoceniona w przypadku demonstracji produktów, wizualizacji architektonicznych i symulacji naukowych, zwiększając zrozumienie przez widzów złożonych struktur i procesów.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64442" y="1081856"/>
            <a:ext cx="984608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ANIMACJA 3D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052AC-31AA-BE04-2398-581088DBE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F88B8A6-234E-E85F-09FF-EF95BF87CDB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42FE5A3-7DB1-87C1-89C2-9E008DC0C52A}"/>
              </a:ext>
            </a:extLst>
          </p:cNvPr>
          <p:cNvGrpSpPr/>
          <p:nvPr/>
        </p:nvGrpSpPr>
        <p:grpSpPr>
          <a:xfrm>
            <a:off x="-1456080" y="373931"/>
            <a:ext cx="3086100" cy="2171499"/>
            <a:chOff x="0" y="0"/>
            <a:chExt cx="812800" cy="57191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97D1229-CFE9-38A7-A496-7B7797EFBE4B}"/>
                </a:ext>
              </a:extLst>
            </p:cNvPr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4774DC4-3453-37CA-FC6A-B76617A84C15}"/>
                </a:ext>
              </a:extLst>
            </p:cNvPr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DC76C42D-C6A6-EE28-9AA2-BD837E226245}"/>
              </a:ext>
            </a:extLst>
          </p:cNvPr>
          <p:cNvGrpSpPr/>
          <p:nvPr/>
        </p:nvGrpSpPr>
        <p:grpSpPr>
          <a:xfrm>
            <a:off x="16744950" y="373931"/>
            <a:ext cx="3086100" cy="2171499"/>
            <a:chOff x="0" y="0"/>
            <a:chExt cx="812800" cy="5719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CE2BF1F-D67B-E5BF-7EA0-68DA0BD7A89E}"/>
                </a:ext>
              </a:extLst>
            </p:cNvPr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5DEF0C1-682F-4EE0-3646-3F239F4A2714}"/>
                </a:ext>
              </a:extLst>
            </p:cNvPr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155DF23B-9319-6AE2-935E-F53D2A381C9B}"/>
              </a:ext>
            </a:extLst>
          </p:cNvPr>
          <p:cNvSpPr txBox="1"/>
          <p:nvPr/>
        </p:nvSpPr>
        <p:spPr>
          <a:xfrm>
            <a:off x="4264442" y="1081856"/>
            <a:ext cx="984608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ANIMACJA 3D</a:t>
            </a:r>
          </a:p>
        </p:txBody>
      </p:sp>
      <p:pic>
        <p:nvPicPr>
          <p:cNvPr id="11" name="Multimedia online 10" title="Hyperreal 3D animation for Treehut Watches">
            <a:hlinkClick r:id="" action="ppaction://media"/>
            <a:extLst>
              <a:ext uri="{FF2B5EF4-FFF2-40B4-BE49-F238E27FC236}">
                <a16:creationId xmlns:a16="http://schemas.microsoft.com/office/drawing/2014/main" id="{0DB3ABB1-86B2-8E82-E112-83EE2D5BF26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048000" y="571500"/>
            <a:ext cx="12192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757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/>
          <p:cNvGrpSpPr/>
          <p:nvPr/>
        </p:nvGrpSpPr>
        <p:grpSpPr>
          <a:xfrm>
            <a:off x="-1456080" y="373931"/>
            <a:ext cx="3086100" cy="2171499"/>
            <a:chOff x="0" y="0"/>
            <a:chExt cx="812800" cy="5719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44950" y="373931"/>
            <a:ext cx="3086100" cy="2171499"/>
            <a:chOff x="0" y="0"/>
            <a:chExt cx="812800" cy="5719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72185" y="2450180"/>
            <a:ext cx="16230600" cy="7617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7"/>
              </a:lnSpc>
            </a:pPr>
            <a:r>
              <a:rPr lang="en-US" sz="309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Grafika ruchowa łączy techniki projektowania graficznego i animacji, wykorzystując ruchome elementy wizualne i typografię do przekazywania wiadomości. </a:t>
            </a:r>
          </a:p>
          <a:p>
            <a:pPr algn="l">
              <a:lnSpc>
                <a:spcPts val="4327"/>
              </a:lnSpc>
            </a:pPr>
            <a:endParaRPr lang="en-US" sz="3091">
              <a:solidFill>
                <a:srgbClr val="30364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327"/>
              </a:lnSpc>
            </a:pPr>
            <a:r>
              <a:rPr lang="en-US" sz="309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Technologia cyfrowa sprawiła, że ​​grafika ruchowa stała się bardziej popularna i dostępna. To wszechstronne medium doskonale nadaje się do przekształcania złożonych informacji w angażującą, wizualnie atrakcyjną treść, szczególnie skuteczną w animowaniu danych statystycznych i abstrakcyjnych koncepcji.</a:t>
            </a:r>
          </a:p>
          <a:p>
            <a:pPr algn="l">
              <a:lnSpc>
                <a:spcPts val="4327"/>
              </a:lnSpc>
            </a:pPr>
            <a:r>
              <a:rPr lang="en-US" sz="309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Kluczową zaletą grafiki ruchomej jest jej opłacalność. Korzystając z podstawowych kształtów i typografii, projektanci mogą tworzyć wizualizacje o dużym wpływie bez skomplikowanych procesów produkcyjnych. Zsynchronizowane elementy audio dodatkowo zwiększają zaangażowanie odbiorców, tworząc wielozmysłowe doświadczenie, które przyciąga uwagę widza.</a:t>
            </a:r>
          </a:p>
          <a:p>
            <a:pPr algn="l">
              <a:lnSpc>
                <a:spcPts val="4327"/>
              </a:lnSpc>
              <a:spcBef>
                <a:spcPct val="0"/>
              </a:spcBef>
            </a:pPr>
            <a:endParaRPr lang="en-US" sz="3091">
              <a:solidFill>
                <a:srgbClr val="30364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264442" y="1081856"/>
            <a:ext cx="984608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GRAFIKA RUCHOWA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7F70E-719B-04F0-3A74-BAE6B39F7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19839F0-606F-D1F9-7C51-956A016491C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3AF612D-E789-E268-2E5F-7D0724933B30}"/>
              </a:ext>
            </a:extLst>
          </p:cNvPr>
          <p:cNvGrpSpPr/>
          <p:nvPr/>
        </p:nvGrpSpPr>
        <p:grpSpPr>
          <a:xfrm>
            <a:off x="-1456080" y="373931"/>
            <a:ext cx="3086100" cy="2171499"/>
            <a:chOff x="0" y="0"/>
            <a:chExt cx="812800" cy="57191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FE50502-ED6B-F9F1-FED0-5785EAEFF500}"/>
                </a:ext>
              </a:extLst>
            </p:cNvPr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1F98B1D-36B2-DB45-BB01-7342FDE7BF64}"/>
                </a:ext>
              </a:extLst>
            </p:cNvPr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8472FD1A-B7B6-1D0E-F424-6573B60248B5}"/>
              </a:ext>
            </a:extLst>
          </p:cNvPr>
          <p:cNvGrpSpPr/>
          <p:nvPr/>
        </p:nvGrpSpPr>
        <p:grpSpPr>
          <a:xfrm>
            <a:off x="16744950" y="373931"/>
            <a:ext cx="3086100" cy="2171499"/>
            <a:chOff x="0" y="0"/>
            <a:chExt cx="812800" cy="5719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D136C89-7E90-C02A-4008-9BFC15AD020D}"/>
                </a:ext>
              </a:extLst>
            </p:cNvPr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DD1B024-6068-1A2E-1021-29A45C8F6DDC}"/>
                </a:ext>
              </a:extLst>
            </p:cNvPr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D7A0784B-C313-001B-31B9-7F247FCEFAD7}"/>
              </a:ext>
            </a:extLst>
          </p:cNvPr>
          <p:cNvSpPr txBox="1"/>
          <p:nvPr/>
        </p:nvSpPr>
        <p:spPr>
          <a:xfrm>
            <a:off x="4264442" y="1081856"/>
            <a:ext cx="984608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GRAFIKA RUCHOWA</a:t>
            </a:r>
          </a:p>
        </p:txBody>
      </p:sp>
      <p:pic>
        <p:nvPicPr>
          <p:cNvPr id="11" name="Multimedia online 10" title="CATCH ME IF YOU CAN (2003) - Générique d'introduction">
            <a:hlinkClick r:id="" action="ppaction://media"/>
            <a:extLst>
              <a:ext uri="{FF2B5EF4-FFF2-40B4-BE49-F238E27FC236}">
                <a16:creationId xmlns:a16="http://schemas.microsoft.com/office/drawing/2014/main" id="{C34D5FFA-E8B7-8418-97F9-F2674F5A959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048000" y="1701800"/>
            <a:ext cx="12192000" cy="688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34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/>
          <p:cNvGrpSpPr/>
          <p:nvPr/>
        </p:nvGrpSpPr>
        <p:grpSpPr>
          <a:xfrm>
            <a:off x="-1456080" y="373931"/>
            <a:ext cx="3086100" cy="2171499"/>
            <a:chOff x="0" y="0"/>
            <a:chExt cx="812800" cy="5719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44950" y="373931"/>
            <a:ext cx="3086100" cy="2171499"/>
            <a:chOff x="0" y="0"/>
            <a:chExt cx="812800" cy="5719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72185" y="2450180"/>
            <a:ext cx="16230600" cy="2731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7"/>
              </a:lnSpc>
            </a:pPr>
            <a:r>
              <a:rPr lang="en-US" sz="309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Animacja typografii, czyli typografia kinetyczna, ożywia elementy tekstowe za pomocą ruchu i efektów wizualnych, zwiększając wpływ treści pisanych lub mówionych. Zazwyczaj wykonywana przy użyciu technik animacji wektorowej 2D, doskonale nadaje się do prezentowania złożonych informacji w łatwo przyswajalnym formacie i wizualizacji inspirujących przemówień lub narracji.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64442" y="1081856"/>
            <a:ext cx="984608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ANIMACJA TYPOGRAFII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57834-4881-C5CA-5883-6959CA877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D8C9C63-719A-599B-E1AF-2F26F5B407D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3438FDE-CA0D-9530-225E-A4B356496DB7}"/>
              </a:ext>
            </a:extLst>
          </p:cNvPr>
          <p:cNvGrpSpPr/>
          <p:nvPr/>
        </p:nvGrpSpPr>
        <p:grpSpPr>
          <a:xfrm>
            <a:off x="-1456080" y="373931"/>
            <a:ext cx="3086100" cy="2171499"/>
            <a:chOff x="0" y="0"/>
            <a:chExt cx="812800" cy="57191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72DF2F0-3349-7D27-9C9D-E18670C2624B}"/>
                </a:ext>
              </a:extLst>
            </p:cNvPr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A00F618-F160-805A-8BE3-18B8BC543057}"/>
                </a:ext>
              </a:extLst>
            </p:cNvPr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065EB98-1106-63A5-B3CA-EB0E89ED18C6}"/>
              </a:ext>
            </a:extLst>
          </p:cNvPr>
          <p:cNvGrpSpPr/>
          <p:nvPr/>
        </p:nvGrpSpPr>
        <p:grpSpPr>
          <a:xfrm>
            <a:off x="16744950" y="373931"/>
            <a:ext cx="3086100" cy="2171499"/>
            <a:chOff x="0" y="0"/>
            <a:chExt cx="812800" cy="5719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84E6214-AF9E-0DA3-688C-4C7350FB1C8C}"/>
                </a:ext>
              </a:extLst>
            </p:cNvPr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4789EF4-CCE5-C7C3-0AB0-33A64EB9220F}"/>
                </a:ext>
              </a:extLst>
            </p:cNvPr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D42697D4-16DE-4D4F-AAD1-2F3C7B176DC1}"/>
              </a:ext>
            </a:extLst>
          </p:cNvPr>
          <p:cNvSpPr txBox="1"/>
          <p:nvPr/>
        </p:nvSpPr>
        <p:spPr>
          <a:xfrm>
            <a:off x="4264442" y="1081856"/>
            <a:ext cx="984608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ANIMACJA TYPOGRAFII </a:t>
            </a:r>
          </a:p>
        </p:txBody>
      </p:sp>
      <p:pic>
        <p:nvPicPr>
          <p:cNvPr id="11" name="Multimedia online 10" title="Kinetic Typography iPhone SE (2022) Commercial">
            <a:hlinkClick r:id="" action="ppaction://media"/>
            <a:extLst>
              <a:ext uri="{FF2B5EF4-FFF2-40B4-BE49-F238E27FC236}">
                <a16:creationId xmlns:a16="http://schemas.microsoft.com/office/drawing/2014/main" id="{2622F78C-DCBA-4168-703E-724980AFED7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048000" y="1701800"/>
            <a:ext cx="12192000" cy="688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374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/>
          <p:cNvGrpSpPr/>
          <p:nvPr/>
        </p:nvGrpSpPr>
        <p:grpSpPr>
          <a:xfrm>
            <a:off x="-1456080" y="373931"/>
            <a:ext cx="3086100" cy="2171499"/>
            <a:chOff x="0" y="0"/>
            <a:chExt cx="812800" cy="5719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44950" y="373931"/>
            <a:ext cx="3086100" cy="2171499"/>
            <a:chOff x="0" y="0"/>
            <a:chExt cx="812800" cy="5719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72185" y="2450180"/>
            <a:ext cx="16230600" cy="1645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7"/>
              </a:lnSpc>
            </a:pPr>
            <a:r>
              <a:rPr lang="en-US" sz="309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Animacja rotoskopowa polega na tym, że animatorzy śledzą materiał filmowy na żywo, aby tworzyć realistyczne animowane sekwencje. Zyskała popularność dzięki „Królewnie Śnieżce i siedmiu krasnoludkom” Disneya z 1937 roku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64442" y="1081856"/>
            <a:ext cx="984608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ANIMACJA ROTOSKOPOWA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8109D-EF30-46A1-47A8-A69FA44F9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EBF5655-50E0-DDAB-85BF-05CF3B80ABD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F257895-1C73-BA1B-EB8B-89F75AA39AD9}"/>
              </a:ext>
            </a:extLst>
          </p:cNvPr>
          <p:cNvGrpSpPr/>
          <p:nvPr/>
        </p:nvGrpSpPr>
        <p:grpSpPr>
          <a:xfrm>
            <a:off x="-1456080" y="373931"/>
            <a:ext cx="3086100" cy="2171499"/>
            <a:chOff x="0" y="0"/>
            <a:chExt cx="812800" cy="57191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9AEEA39-F77E-7B1A-C4C8-3E3402255309}"/>
                </a:ext>
              </a:extLst>
            </p:cNvPr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D58883E-1AFB-7CD1-DFE9-D6E499D45B4B}"/>
                </a:ext>
              </a:extLst>
            </p:cNvPr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094CDDF-6DAB-57F9-E065-77F1077267BF}"/>
              </a:ext>
            </a:extLst>
          </p:cNvPr>
          <p:cNvGrpSpPr/>
          <p:nvPr/>
        </p:nvGrpSpPr>
        <p:grpSpPr>
          <a:xfrm>
            <a:off x="16744950" y="373931"/>
            <a:ext cx="3086100" cy="2171499"/>
            <a:chOff x="0" y="0"/>
            <a:chExt cx="812800" cy="5719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0A0C16E-702E-DB1B-7FBC-F3539B430F30}"/>
                </a:ext>
              </a:extLst>
            </p:cNvPr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03FFF78-9A7D-2671-4A80-49DCE1B56165}"/>
                </a:ext>
              </a:extLst>
            </p:cNvPr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9C77ACFD-09B0-2606-FDF7-6113F172C858}"/>
              </a:ext>
            </a:extLst>
          </p:cNvPr>
          <p:cNvSpPr txBox="1"/>
          <p:nvPr/>
        </p:nvSpPr>
        <p:spPr>
          <a:xfrm>
            <a:off x="4264442" y="1081856"/>
            <a:ext cx="984608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ANIMACJA ROTOSKOPOWA</a:t>
            </a:r>
          </a:p>
        </p:txBody>
      </p:sp>
      <p:pic>
        <p:nvPicPr>
          <p:cNvPr id="11" name="Multimedia online 10" title="Waking Life (2001)&#10;&#10;#wakinglife #rotoscoping #philosophyoflife #luciddreaming #richardlinklater #exi">
            <a:hlinkClick r:id="" action="ppaction://media"/>
            <a:extLst>
              <a:ext uri="{FF2B5EF4-FFF2-40B4-BE49-F238E27FC236}">
                <a16:creationId xmlns:a16="http://schemas.microsoft.com/office/drawing/2014/main" id="{0EF84979-BDEC-E56E-AA9B-97958F9095C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048000" y="1701800"/>
            <a:ext cx="12192000" cy="688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708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/>
          <p:cNvGrpSpPr/>
          <p:nvPr/>
        </p:nvGrpSpPr>
        <p:grpSpPr>
          <a:xfrm>
            <a:off x="-1456080" y="373931"/>
            <a:ext cx="3086100" cy="2171499"/>
            <a:chOff x="0" y="0"/>
            <a:chExt cx="812800" cy="5719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44950" y="373931"/>
            <a:ext cx="3086100" cy="2171499"/>
            <a:chOff x="0" y="0"/>
            <a:chExt cx="812800" cy="5719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72185" y="2450180"/>
            <a:ext cx="16230600" cy="7074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7"/>
              </a:lnSpc>
            </a:pPr>
            <a:r>
              <a:rPr lang="en-US" sz="309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Animacja wycinankowa zyskała uznanie dzięki zastosowaniu jej w South Park, gdzie twórcy początkowo używali wycinanek papierowych i fotografii poklatkowej. Choć tradycyjnie kojarzona z programowaniem dla dzieci, technika ta ewoluowała od materiałów fizycznych do metod cyfrowych, usprawniając proces animacji.</a:t>
            </a:r>
          </a:p>
          <a:p>
            <a:pPr algn="l">
              <a:lnSpc>
                <a:spcPts val="4327"/>
              </a:lnSpc>
            </a:pPr>
            <a:endParaRPr lang="en-US" sz="3091">
              <a:solidFill>
                <a:srgbClr val="30364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327"/>
              </a:lnSpc>
            </a:pPr>
            <a:r>
              <a:rPr lang="en-US" sz="309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Cyfrowa animacja wycinankowa oferuje wydajny sposób tworzenia animacji opartych na postaciach, szczególnie popularnych w przypadku filmów wyjaśniających i treści marketingowych opartych na narracji. To podejście zachowuje wizualną atrakcyjność tradycyjnej animacji wycinankowej, wykorzystując jednocześnie zalety nowoczesnej technologii. Rezultatem jest wszechstronny styl, który łączy nostalgiczny urok z cyfrową precyzją, skutecznie przekazując złożone idee za pomocą rozpoznawalnych postaci i uproszczonych wizualizacji.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64442" y="1081856"/>
            <a:ext cx="984608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ANIMACJA WYCINANKOWA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6DCA7-92B7-8046-E65B-40572CA92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13F4DCD-44C2-D593-6B03-2D510FCA293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81BEC6A-4D73-B00B-2284-814E7B0B368F}"/>
              </a:ext>
            </a:extLst>
          </p:cNvPr>
          <p:cNvGrpSpPr/>
          <p:nvPr/>
        </p:nvGrpSpPr>
        <p:grpSpPr>
          <a:xfrm>
            <a:off x="-1456080" y="373931"/>
            <a:ext cx="3086100" cy="2171499"/>
            <a:chOff x="0" y="0"/>
            <a:chExt cx="812800" cy="57191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D7C0AC7-2571-F499-F7E3-6EE4984E3DD8}"/>
                </a:ext>
              </a:extLst>
            </p:cNvPr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964BB89-E810-0705-0DA6-1C8A43E99B5B}"/>
                </a:ext>
              </a:extLst>
            </p:cNvPr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5C95EBDF-5200-F6F3-F9C2-74208B981BDE}"/>
              </a:ext>
            </a:extLst>
          </p:cNvPr>
          <p:cNvGrpSpPr/>
          <p:nvPr/>
        </p:nvGrpSpPr>
        <p:grpSpPr>
          <a:xfrm>
            <a:off x="16744950" y="373931"/>
            <a:ext cx="3086100" cy="2171499"/>
            <a:chOff x="0" y="0"/>
            <a:chExt cx="812800" cy="5719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00F1827-1424-D5EA-FB5E-DF6D15FA7AA8}"/>
                </a:ext>
              </a:extLst>
            </p:cNvPr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FFE3234-4690-BB8E-D01E-7852A0FBD430}"/>
                </a:ext>
              </a:extLst>
            </p:cNvPr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E611E6F5-2D94-193C-2BA6-6763EEDAF8AF}"/>
              </a:ext>
            </a:extLst>
          </p:cNvPr>
          <p:cNvSpPr txBox="1"/>
          <p:nvPr/>
        </p:nvSpPr>
        <p:spPr>
          <a:xfrm>
            <a:off x="4264442" y="1081856"/>
            <a:ext cx="984608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ANIMACJA WYCINANKOWA</a:t>
            </a:r>
          </a:p>
        </p:txBody>
      </p:sp>
      <p:pic>
        <p:nvPicPr>
          <p:cNvPr id="11" name="Multimedia online 10" title="South Park – Season 1 original trailer 1997">
            <a:hlinkClick r:id="" action="ppaction://media"/>
            <a:extLst>
              <a:ext uri="{FF2B5EF4-FFF2-40B4-BE49-F238E27FC236}">
                <a16:creationId xmlns:a16="http://schemas.microsoft.com/office/drawing/2014/main" id="{5482608D-E378-C207-520B-5C7AD3BA3D7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048000" y="571500"/>
            <a:ext cx="12192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031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/>
          <p:cNvGrpSpPr/>
          <p:nvPr/>
        </p:nvGrpSpPr>
        <p:grpSpPr>
          <a:xfrm>
            <a:off x="-1456080" y="373931"/>
            <a:ext cx="3086100" cy="2171499"/>
            <a:chOff x="0" y="0"/>
            <a:chExt cx="812800" cy="5719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44950" y="373931"/>
            <a:ext cx="3086100" cy="2171499"/>
            <a:chOff x="0" y="0"/>
            <a:chExt cx="812800" cy="5719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72185" y="2450180"/>
            <a:ext cx="16230600" cy="2731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7"/>
              </a:lnSpc>
            </a:pP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wykorzystuje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tablicę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z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tysiącami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wysuwanych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metalowych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szpilek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do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tworzenia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ruchomych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obrazów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Każda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szpilka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pełni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funkcję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punktu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światła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cienia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umożliwiając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animatorom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tworzenie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skomplikowanych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kompozycji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wizualnych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głębi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fakturze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Alexeïeff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Claire Parker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stworzyli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surrealistyczne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sekwencje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animowane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przy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użyciu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tej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91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metody</a:t>
            </a:r>
            <a:r>
              <a:rPr lang="en-US" sz="3091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64442" y="1081856"/>
            <a:ext cx="9846085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ANIMACJA NA EKRANIE SZPILKOWYM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679EB-CC7F-C4F1-3AC1-C7FE58517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8AFC8AC-1E7F-D20F-35A4-51EC97E01E1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AB8175F-76ED-F45F-C184-861B28BCDEC6}"/>
              </a:ext>
            </a:extLst>
          </p:cNvPr>
          <p:cNvGrpSpPr/>
          <p:nvPr/>
        </p:nvGrpSpPr>
        <p:grpSpPr>
          <a:xfrm>
            <a:off x="-1456080" y="373931"/>
            <a:ext cx="3086100" cy="2171499"/>
            <a:chOff x="0" y="0"/>
            <a:chExt cx="812800" cy="57191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CBF0335-BD14-21B4-E967-C06D2BD10A9B}"/>
                </a:ext>
              </a:extLst>
            </p:cNvPr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E2E7727-B51C-8D5B-537E-35EC95B58536}"/>
                </a:ext>
              </a:extLst>
            </p:cNvPr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24BBDB8-AFC8-3E4B-EAE0-2D04BD38726A}"/>
              </a:ext>
            </a:extLst>
          </p:cNvPr>
          <p:cNvGrpSpPr/>
          <p:nvPr/>
        </p:nvGrpSpPr>
        <p:grpSpPr>
          <a:xfrm>
            <a:off x="16744950" y="373931"/>
            <a:ext cx="3086100" cy="2171499"/>
            <a:chOff x="0" y="0"/>
            <a:chExt cx="812800" cy="5719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8361DBC-F6CF-5377-E6CB-0B20209EC8C5}"/>
                </a:ext>
              </a:extLst>
            </p:cNvPr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8CE5454-CFE4-1F5E-42BE-9493A6A214F5}"/>
                </a:ext>
              </a:extLst>
            </p:cNvPr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FFC9764E-5750-4D99-0076-6A4A61293B11}"/>
              </a:ext>
            </a:extLst>
          </p:cNvPr>
          <p:cNvSpPr txBox="1"/>
          <p:nvPr/>
        </p:nvSpPr>
        <p:spPr>
          <a:xfrm>
            <a:off x="4264442" y="1081856"/>
            <a:ext cx="9846085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ANIMACJA NA EKRANIE SZPILKOWYM</a:t>
            </a:r>
          </a:p>
        </p:txBody>
      </p:sp>
      <p:pic>
        <p:nvPicPr>
          <p:cNvPr id="11" name="Multimedia online 10" title="The Trial / Le procès: Franz Kafka (Orson Welles / 1962) HD">
            <a:hlinkClick r:id="" action="ppaction://media"/>
            <a:extLst>
              <a:ext uri="{FF2B5EF4-FFF2-40B4-BE49-F238E27FC236}">
                <a16:creationId xmlns:a16="http://schemas.microsoft.com/office/drawing/2014/main" id="{CD5EA928-6DC0-1F66-0207-7D02E6DAAA6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048000" y="1701800"/>
            <a:ext cx="12192000" cy="688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944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/>
          <p:cNvGrpSpPr/>
          <p:nvPr/>
        </p:nvGrpSpPr>
        <p:grpSpPr>
          <a:xfrm>
            <a:off x="-1456080" y="373931"/>
            <a:ext cx="3086100" cy="2171499"/>
            <a:chOff x="0" y="0"/>
            <a:chExt cx="812800" cy="5719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44950" y="373931"/>
            <a:ext cx="3086100" cy="2171499"/>
            <a:chOff x="0" y="0"/>
            <a:chExt cx="812800" cy="5719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72185" y="2450180"/>
            <a:ext cx="16230600" cy="4903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7"/>
              </a:lnSpc>
            </a:pPr>
            <a:r>
              <a:rPr lang="en-US" sz="309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Treści animowane na żywo łączą elementy cyfrowe z materiałami ze świata rzeczywistego, tworząc hybrydowe wrażenia wizualne. Ta technika nakłada animowaną grafikę na wideo z udziałem żywych aktorów, a oprogramowanie do śledzenia ruchu umożliwia bezproblemową integrację.</a:t>
            </a:r>
          </a:p>
          <a:p>
            <a:pPr algn="l">
              <a:lnSpc>
                <a:spcPts val="4327"/>
              </a:lnSpc>
            </a:pPr>
            <a:r>
              <a:rPr lang="en-US" sz="309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W miarę ruchów kamery elementy cyfrowe dynamicznie dostosowują swoją pozycję, zachowując spójność wizualną. Proces ten jest ułatwiony przez nowoczesne oprogramowanie do edycji wideo, które pozwala animatorom i montażystom skupić się na tworzeniu wciągających narracji</a:t>
            </a:r>
          </a:p>
          <a:p>
            <a:pPr algn="l">
              <a:lnSpc>
                <a:spcPts val="4327"/>
              </a:lnSpc>
            </a:pPr>
            <a:endParaRPr lang="en-US" sz="3091">
              <a:solidFill>
                <a:srgbClr val="30364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264442" y="1081856"/>
            <a:ext cx="984608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ANIMOWANE NA ŻYWO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D6A85-B1A4-56AC-5DA6-606DA505C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2EB8B0C-1226-40C7-0BE1-16674029CF8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8610BE1-3052-CF74-C688-43A7A884A271}"/>
              </a:ext>
            </a:extLst>
          </p:cNvPr>
          <p:cNvGrpSpPr/>
          <p:nvPr/>
        </p:nvGrpSpPr>
        <p:grpSpPr>
          <a:xfrm>
            <a:off x="-1456080" y="373931"/>
            <a:ext cx="3086100" cy="2171499"/>
            <a:chOff x="0" y="0"/>
            <a:chExt cx="812800" cy="57191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2C4CD12-7906-C79E-E3B5-E11B92BB9281}"/>
                </a:ext>
              </a:extLst>
            </p:cNvPr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B9DCFAA-AC36-1538-8BBF-4C3ED054CBFA}"/>
                </a:ext>
              </a:extLst>
            </p:cNvPr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70C9A700-6314-2E4C-76A9-6E48EDA4CE48}"/>
              </a:ext>
            </a:extLst>
          </p:cNvPr>
          <p:cNvGrpSpPr/>
          <p:nvPr/>
        </p:nvGrpSpPr>
        <p:grpSpPr>
          <a:xfrm>
            <a:off x="16744950" y="373931"/>
            <a:ext cx="3086100" cy="2171499"/>
            <a:chOff x="0" y="0"/>
            <a:chExt cx="812800" cy="5719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38EB49E-5DD5-4A95-9D14-A9ED14D3EF9F}"/>
                </a:ext>
              </a:extLst>
            </p:cNvPr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C003937-85B0-A025-30CD-40E98EF07850}"/>
                </a:ext>
              </a:extLst>
            </p:cNvPr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A0A8D467-8ECB-0E3D-908C-95C7616B16D5}"/>
              </a:ext>
            </a:extLst>
          </p:cNvPr>
          <p:cNvSpPr txBox="1"/>
          <p:nvPr/>
        </p:nvSpPr>
        <p:spPr>
          <a:xfrm>
            <a:off x="4264442" y="1081856"/>
            <a:ext cx="984608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ANIMOWANE NA ŻYWO</a:t>
            </a:r>
          </a:p>
        </p:txBody>
      </p:sp>
      <p:pic>
        <p:nvPicPr>
          <p:cNvPr id="11" name="Multimedia online 10" title="🎥: Space Jam (1996) #michaeljordan #behindthescenes #spacejam #filmmaking">
            <a:hlinkClick r:id="" action="ppaction://media"/>
            <a:extLst>
              <a:ext uri="{FF2B5EF4-FFF2-40B4-BE49-F238E27FC236}">
                <a16:creationId xmlns:a16="http://schemas.microsoft.com/office/drawing/2014/main" id="{BB6D586A-8199-AC2A-4CC8-08B3E215062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048000" y="1701800"/>
            <a:ext cx="12192000" cy="688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976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/>
          <p:cNvGrpSpPr/>
          <p:nvPr/>
        </p:nvGrpSpPr>
        <p:grpSpPr>
          <a:xfrm>
            <a:off x="-1456080" y="373931"/>
            <a:ext cx="3086100" cy="2171499"/>
            <a:chOff x="0" y="0"/>
            <a:chExt cx="812800" cy="5719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44950" y="373931"/>
            <a:ext cx="3086100" cy="2171499"/>
            <a:chOff x="0" y="0"/>
            <a:chExt cx="812800" cy="5719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72185" y="2450180"/>
            <a:ext cx="16230600" cy="2731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7"/>
              </a:lnSpc>
            </a:pPr>
            <a:r>
              <a:rPr lang="en-US" sz="309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Animacja screencastowa to skuteczna technika tworzenia filmów instruktażowych poprzez przechwytywanie aktywności na ekranie w celu zademonstrowania funkcjonalności oprogramowania. Jej główną siłą jest zapewnienie wizualnego przejścia przez środowiska cyfrowe, wzbogaconego o animowane nakładki i narrację w celu uzyskania szczegółowych wyjaśnień.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64442" y="1081856"/>
            <a:ext cx="984608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ANIMACJA SCREENCASTOWA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8440A-AE6D-B358-D002-8B55BF4D7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A7EB619-B9B4-DE36-F2A6-7044CD3F44F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E7C8413-7DD4-5FD7-B5C6-0CA854D8B84C}"/>
              </a:ext>
            </a:extLst>
          </p:cNvPr>
          <p:cNvGrpSpPr/>
          <p:nvPr/>
        </p:nvGrpSpPr>
        <p:grpSpPr>
          <a:xfrm>
            <a:off x="-1456080" y="373931"/>
            <a:ext cx="3086100" cy="2171499"/>
            <a:chOff x="0" y="0"/>
            <a:chExt cx="812800" cy="57191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ABD36C4-F84E-3BE0-63BD-F7CCFB3A4322}"/>
                </a:ext>
              </a:extLst>
            </p:cNvPr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8D1934A-FDB8-8267-5527-2167CA991772}"/>
                </a:ext>
              </a:extLst>
            </p:cNvPr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F5FBFF8C-FEF6-B15F-DB29-45E6B3EEC789}"/>
              </a:ext>
            </a:extLst>
          </p:cNvPr>
          <p:cNvGrpSpPr/>
          <p:nvPr/>
        </p:nvGrpSpPr>
        <p:grpSpPr>
          <a:xfrm>
            <a:off x="16744950" y="373931"/>
            <a:ext cx="3086100" cy="2171499"/>
            <a:chOff x="0" y="0"/>
            <a:chExt cx="812800" cy="5719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26895C1-B033-4715-7526-79197B69658B}"/>
                </a:ext>
              </a:extLst>
            </p:cNvPr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2E66EFF-18F0-F338-0991-5A7BF63CE46E}"/>
                </a:ext>
              </a:extLst>
            </p:cNvPr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22243464-81CB-14A7-11D4-E867709DB7FC}"/>
              </a:ext>
            </a:extLst>
          </p:cNvPr>
          <p:cNvSpPr txBox="1"/>
          <p:nvPr/>
        </p:nvSpPr>
        <p:spPr>
          <a:xfrm>
            <a:off x="4264442" y="1081856"/>
            <a:ext cx="984608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ANIMACJA SCREENCASTOWA</a:t>
            </a:r>
          </a:p>
        </p:txBody>
      </p:sp>
      <p:pic>
        <p:nvPicPr>
          <p:cNvPr id="11" name="Multimedia online 10" title="Introducing The Lemonade App [See It In Action]">
            <a:hlinkClick r:id="" action="ppaction://media"/>
            <a:extLst>
              <a:ext uri="{FF2B5EF4-FFF2-40B4-BE49-F238E27FC236}">
                <a16:creationId xmlns:a16="http://schemas.microsoft.com/office/drawing/2014/main" id="{FC8754FB-8EB6-82E7-E9E4-E414F907940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048000" y="1701800"/>
            <a:ext cx="12192000" cy="688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647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/>
          <p:cNvGrpSpPr/>
          <p:nvPr/>
        </p:nvGrpSpPr>
        <p:grpSpPr>
          <a:xfrm>
            <a:off x="-1456080" y="373931"/>
            <a:ext cx="3086100" cy="2171499"/>
            <a:chOff x="0" y="0"/>
            <a:chExt cx="812800" cy="5719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44950" y="373931"/>
            <a:ext cx="3086100" cy="2171499"/>
            <a:chOff x="0" y="0"/>
            <a:chExt cx="812800" cy="5719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72185" y="2450180"/>
            <a:ext cx="16230600" cy="2731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7"/>
              </a:lnSpc>
            </a:pPr>
            <a:r>
              <a:rPr lang="en-US" sz="309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Animacja mechaniczna wizualnie przedstawia wewnętrzne działanie produktów, urządzeń lub systemów przy użyciu modelowania 3D. Jej siła polega na upraszczaniu złożonych koncepcji technicznych poprzez skupienie się na niezbędnych komponentach i ich interakcjach, przekazując skomplikowane informacje.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64442" y="1081856"/>
            <a:ext cx="984608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ANIMACJA MECHANICZNA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AB33B-D33A-9FCB-A4BC-C7E1544F7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397C7A6-7CA2-2CAF-F300-F57AD2A2846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2328F6D-52F6-CAB2-03D8-91867AFA7617}"/>
              </a:ext>
            </a:extLst>
          </p:cNvPr>
          <p:cNvGrpSpPr/>
          <p:nvPr/>
        </p:nvGrpSpPr>
        <p:grpSpPr>
          <a:xfrm>
            <a:off x="-1456080" y="373931"/>
            <a:ext cx="3086100" cy="2171499"/>
            <a:chOff x="0" y="0"/>
            <a:chExt cx="812800" cy="57191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0BFE915-614C-1B6A-2048-39202CF4C4DE}"/>
                </a:ext>
              </a:extLst>
            </p:cNvPr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C8D5EA2-7394-B326-651F-23BAECECDE73}"/>
                </a:ext>
              </a:extLst>
            </p:cNvPr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BCDA904B-D4B3-D162-BE95-1D2E69A4EEC0}"/>
              </a:ext>
            </a:extLst>
          </p:cNvPr>
          <p:cNvGrpSpPr/>
          <p:nvPr/>
        </p:nvGrpSpPr>
        <p:grpSpPr>
          <a:xfrm>
            <a:off x="16744950" y="373931"/>
            <a:ext cx="3086100" cy="2171499"/>
            <a:chOff x="0" y="0"/>
            <a:chExt cx="812800" cy="5719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AD99543-2817-5336-55B4-903BA67C5B1E}"/>
                </a:ext>
              </a:extLst>
            </p:cNvPr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1669E15-8CE1-A34D-2E2C-1B2338CC067B}"/>
                </a:ext>
              </a:extLst>
            </p:cNvPr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6EBA9B61-9A8B-F380-1F6D-FF075FDD6499}"/>
              </a:ext>
            </a:extLst>
          </p:cNvPr>
          <p:cNvSpPr txBox="1"/>
          <p:nvPr/>
        </p:nvSpPr>
        <p:spPr>
          <a:xfrm>
            <a:off x="4264442" y="1081856"/>
            <a:ext cx="984608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ANIMACJA MECHANICZNA</a:t>
            </a:r>
          </a:p>
        </p:txBody>
      </p:sp>
      <p:pic>
        <p:nvPicPr>
          <p:cNvPr id="11" name="Multimedia online 10" title="The All New AMG 4.0 Liter V8 Biturbo Engine (M178)">
            <a:hlinkClick r:id="" action="ppaction://media"/>
            <a:extLst>
              <a:ext uri="{FF2B5EF4-FFF2-40B4-BE49-F238E27FC236}">
                <a16:creationId xmlns:a16="http://schemas.microsoft.com/office/drawing/2014/main" id="{A70A0F72-018D-92B1-57BF-E23FC7EB855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048000" y="1701800"/>
            <a:ext cx="12192000" cy="688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015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/>
          <p:cNvGrpSpPr/>
          <p:nvPr/>
        </p:nvGrpSpPr>
        <p:grpSpPr>
          <a:xfrm>
            <a:off x="-1456080" y="373931"/>
            <a:ext cx="3086100" cy="2171499"/>
            <a:chOff x="0" y="0"/>
            <a:chExt cx="812800" cy="5719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44950" y="373931"/>
            <a:ext cx="3086100" cy="2171499"/>
            <a:chOff x="0" y="0"/>
            <a:chExt cx="812800" cy="5719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72185" y="2450180"/>
            <a:ext cx="16230600" cy="4903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7"/>
              </a:lnSpc>
            </a:pPr>
            <a:r>
              <a:rPr lang="en-US" sz="309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Animacja na tablicy pojawiła się w 2007 roku, a jej pionierem była firma UPS w filmach wyjaśniających usługi. Prezentuje prezentera ilustrującego koncepcje na tablicy, tworząc nowy paradygmat animowanej treści.</a:t>
            </a:r>
          </a:p>
          <a:p>
            <a:pPr algn="l">
              <a:lnSpc>
                <a:spcPts val="4327"/>
              </a:lnSpc>
            </a:pPr>
            <a:endParaRPr lang="en-US" sz="3091">
              <a:solidFill>
                <a:srgbClr val="30364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327"/>
              </a:lnSpc>
            </a:pPr>
            <a:r>
              <a:rPr lang="en-US" sz="309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Prostota i skuteczność formatu doprowadziły do ​​powstania gatunku animacji w stylu tablicy, przechodząc od fizycznego rysowania do metod cyfrowych emulujących estetykę rysowania ręcznego. Jest to szczególnie skuteczne w przypadku filmów wyjaśniających, ponieważ wykorzystuje nieskomplikowane wizualizacje do wyjaśniania złożonych idei.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64442" y="1081856"/>
            <a:ext cx="9846085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u="sng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  <a:hlinkClick r:id="rId3" tooltip="https://explainvisually.co/animacje-typu-whiteboard/"/>
              </a:rPr>
              <a:t>ANIMACJA NA TABLICY </a:t>
            </a:r>
            <a:r>
              <a:rPr lang="en-US" sz="3999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(WHITEBOARD)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A10F7-F14E-8283-02A3-FF45F429A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F3ADCF1-D719-861C-076C-BA7161EE83B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3EB4B65-D42C-F0E9-A56C-FE2D4D3FA04E}"/>
              </a:ext>
            </a:extLst>
          </p:cNvPr>
          <p:cNvGrpSpPr/>
          <p:nvPr/>
        </p:nvGrpSpPr>
        <p:grpSpPr>
          <a:xfrm>
            <a:off x="-1456080" y="373931"/>
            <a:ext cx="3086100" cy="2171499"/>
            <a:chOff x="0" y="0"/>
            <a:chExt cx="812800" cy="57191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7ED8D42-7191-DD0B-B9B0-4D8DAD301408}"/>
                </a:ext>
              </a:extLst>
            </p:cNvPr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E38D32E-635D-C7DD-777D-1BF5472135FB}"/>
                </a:ext>
              </a:extLst>
            </p:cNvPr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91AEB448-B996-E6A4-7DB6-4238CFABDC79}"/>
              </a:ext>
            </a:extLst>
          </p:cNvPr>
          <p:cNvGrpSpPr/>
          <p:nvPr/>
        </p:nvGrpSpPr>
        <p:grpSpPr>
          <a:xfrm>
            <a:off x="16744950" y="373931"/>
            <a:ext cx="3086100" cy="2171499"/>
            <a:chOff x="0" y="0"/>
            <a:chExt cx="812800" cy="5719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68B0865-293A-FBBD-2635-E00524E52D24}"/>
                </a:ext>
              </a:extLst>
            </p:cNvPr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2D906B2-5D4C-5A91-C75C-0A8242EC53BF}"/>
                </a:ext>
              </a:extLst>
            </p:cNvPr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E827BC0D-195D-F7E3-8D06-198FD7142E6B}"/>
              </a:ext>
            </a:extLst>
          </p:cNvPr>
          <p:cNvSpPr txBox="1"/>
          <p:nvPr/>
        </p:nvSpPr>
        <p:spPr>
          <a:xfrm>
            <a:off x="4264442" y="1081856"/>
            <a:ext cx="9846085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u="sng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  <a:hlinkClick r:id="rId4" tooltip="https://explainvisually.co/animacje-typu-whiteboard/"/>
              </a:rPr>
              <a:t>ANIMACJA NA TABLICY </a:t>
            </a:r>
            <a:r>
              <a:rPr lang="en-US" sz="3999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(WHITEBOARD)</a:t>
            </a:r>
          </a:p>
        </p:txBody>
      </p:sp>
      <p:pic>
        <p:nvPicPr>
          <p:cNvPr id="11" name="Multimedia online 10" title="AleBilet bezpieczne miejsce kupna i odsprzedaży biletów.">
            <a:hlinkClick r:id="" action="ppaction://media"/>
            <a:extLst>
              <a:ext uri="{FF2B5EF4-FFF2-40B4-BE49-F238E27FC236}">
                <a16:creationId xmlns:a16="http://schemas.microsoft.com/office/drawing/2014/main" id="{BA8F6677-636A-6E85-2D78-DB863A4CB10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3048000" y="1701800"/>
            <a:ext cx="12192000" cy="688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985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/>
          <p:cNvGrpSpPr/>
          <p:nvPr/>
        </p:nvGrpSpPr>
        <p:grpSpPr>
          <a:xfrm>
            <a:off x="-1456080" y="373931"/>
            <a:ext cx="3086100" cy="2171499"/>
            <a:chOff x="0" y="0"/>
            <a:chExt cx="812800" cy="5719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44950" y="373931"/>
            <a:ext cx="3086100" cy="2171499"/>
            <a:chOff x="0" y="0"/>
            <a:chExt cx="812800" cy="5719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72185" y="2450180"/>
            <a:ext cx="16230600" cy="1645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7"/>
              </a:lnSpc>
            </a:pPr>
            <a:r>
              <a:rPr lang="en-US" sz="309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Animacja poklatkowa ożywia nieożywione obiekty poprzez przyrostowe ruchy i sekwencyjną fotografię. Zdobyła popularność w klasycznych programach telewizyjnych dla dzieci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64442" y="1081856"/>
            <a:ext cx="984608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u="sng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  <a:hlinkClick r:id="rId3" tooltip="https://explainvisually.co/animacje-typu-whiteboard/"/>
              </a:rPr>
              <a:t>ANIMACJA POKLATKOWA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43586-EBCC-3B6C-A833-855F8810A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3F210A1-E069-216E-6B20-1B2B6D28EC5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2240065-0ED5-75FA-9839-39DAE3B68FFA}"/>
              </a:ext>
            </a:extLst>
          </p:cNvPr>
          <p:cNvGrpSpPr/>
          <p:nvPr/>
        </p:nvGrpSpPr>
        <p:grpSpPr>
          <a:xfrm>
            <a:off x="-1456080" y="373931"/>
            <a:ext cx="3086100" cy="2171499"/>
            <a:chOff x="0" y="0"/>
            <a:chExt cx="812800" cy="57191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C8170AA-7092-64C9-44BE-667F89E41F66}"/>
                </a:ext>
              </a:extLst>
            </p:cNvPr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CEBA872-81BC-380C-B82B-7636F3788E20}"/>
                </a:ext>
              </a:extLst>
            </p:cNvPr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642AFA0F-A78E-878C-EF0A-536ED219A4EC}"/>
              </a:ext>
            </a:extLst>
          </p:cNvPr>
          <p:cNvGrpSpPr/>
          <p:nvPr/>
        </p:nvGrpSpPr>
        <p:grpSpPr>
          <a:xfrm>
            <a:off x="16744950" y="373931"/>
            <a:ext cx="3086100" cy="2171499"/>
            <a:chOff x="0" y="0"/>
            <a:chExt cx="812800" cy="5719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4A28E42-5B99-27E5-F631-0029A1BCC7BE}"/>
                </a:ext>
              </a:extLst>
            </p:cNvPr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3598584-D3EC-12A3-D5BC-815701301873}"/>
                </a:ext>
              </a:extLst>
            </p:cNvPr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33C41738-5392-0CFF-54EC-046F9F02CC70}"/>
              </a:ext>
            </a:extLst>
          </p:cNvPr>
          <p:cNvSpPr txBox="1"/>
          <p:nvPr/>
        </p:nvSpPr>
        <p:spPr>
          <a:xfrm>
            <a:off x="4264442" y="1081856"/>
            <a:ext cx="984608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u="sng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  <a:hlinkClick r:id="rId4" tooltip="https://explainvisually.co/animacje-typu-whiteboard/"/>
              </a:rPr>
              <a:t>ANIMACJA POKLATKOWA</a:t>
            </a:r>
          </a:p>
        </p:txBody>
      </p:sp>
      <p:pic>
        <p:nvPicPr>
          <p:cNvPr id="11" name="Multimedia online 10" title="The Schoenhut Humpty Dumpty Circus">
            <a:hlinkClick r:id="" action="ppaction://media"/>
            <a:extLst>
              <a:ext uri="{FF2B5EF4-FFF2-40B4-BE49-F238E27FC236}">
                <a16:creationId xmlns:a16="http://schemas.microsoft.com/office/drawing/2014/main" id="{AEC38BE1-54FD-9F7A-4176-1B3737FA858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3048000" y="1701800"/>
            <a:ext cx="12192000" cy="688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62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/>
          <p:cNvGrpSpPr/>
          <p:nvPr/>
        </p:nvGrpSpPr>
        <p:grpSpPr>
          <a:xfrm>
            <a:off x="-1456080" y="373931"/>
            <a:ext cx="3086100" cy="2171499"/>
            <a:chOff x="0" y="0"/>
            <a:chExt cx="812800" cy="5719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44950" y="373931"/>
            <a:ext cx="3086100" cy="2171499"/>
            <a:chOff x="0" y="0"/>
            <a:chExt cx="812800" cy="5719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72185" y="2450180"/>
            <a:ext cx="16230600" cy="2188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7"/>
              </a:lnSpc>
            </a:pPr>
            <a:r>
              <a:rPr lang="en-US" sz="309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Animacja rozszerzonej rzeczywistości (AR) łączy obrazy cyfrowe z rzeczywistymi środowiskami, tworząc wciągające i interaktywne wrażenia wizualne. Zyskała uznanie dzięki takim aplikacjom jak filtry na żywo Snapchata, które nakładają elementy cyfrowe na obrazy w czasie rzeczywistym.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64442" y="1081856"/>
            <a:ext cx="9846085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u="sng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  <a:hlinkClick r:id="rId3" tooltip="https://explainvisually.co/animacje-typu-whiteboard/"/>
              </a:rPr>
              <a:t>ANIMACJA ROZSZERZONEJ RZECZYWISTOŚCI</a:t>
            </a:r>
          </a:p>
        </p:txBody>
      </p:sp>
      <p:pic>
        <p:nvPicPr>
          <p:cNvPr id="1026" name="Picture 2" descr="Pokédex Pokémon GO">
            <a:extLst>
              <a:ext uri="{FF2B5EF4-FFF2-40B4-BE49-F238E27FC236}">
                <a16:creationId xmlns:a16="http://schemas.microsoft.com/office/drawing/2014/main" id="{85489E92-1A0E-AA46-075E-DBA22E002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4442" y="4900007"/>
            <a:ext cx="97536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/>
          <p:cNvGrpSpPr/>
          <p:nvPr/>
        </p:nvGrpSpPr>
        <p:grpSpPr>
          <a:xfrm>
            <a:off x="-1456080" y="373931"/>
            <a:ext cx="3086100" cy="2171499"/>
            <a:chOff x="0" y="0"/>
            <a:chExt cx="812800" cy="5719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44950" y="373931"/>
            <a:ext cx="3086100" cy="2171499"/>
            <a:chOff x="0" y="0"/>
            <a:chExt cx="812800" cy="5719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72185" y="2450180"/>
            <a:ext cx="16230600" cy="2731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7"/>
              </a:lnSpc>
            </a:pPr>
            <a:r>
              <a:rPr lang="en-US" sz="309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Animacja retro przywołuje estetykę z wcześniejszych epok animacji i mediów cyfrowych, czerpiąc inspirację z klasycznych kreskówek i wczesnych grafik gier wideo. Jej atrakcyjność polega na tworzeniu połączeń emocjonalnych za pomocą znanych wskazówek wizualnych, kierując określone grupy demograficzne do nostalgicznej estetyki.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64442" y="1081856"/>
            <a:ext cx="984608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u="sng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  <a:hlinkClick r:id="rId3" tooltip="https://explainvisually.co/animacje-typu-whiteboard/"/>
              </a:rPr>
              <a:t>ANIMACJA RETRO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A3504-B0F5-96CC-96CB-72D3C784E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378DF55-BBDA-36BD-B5FB-0E211192863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88879C3-FCE0-D2C6-1CB5-B5E45DD2763B}"/>
              </a:ext>
            </a:extLst>
          </p:cNvPr>
          <p:cNvGrpSpPr/>
          <p:nvPr/>
        </p:nvGrpSpPr>
        <p:grpSpPr>
          <a:xfrm>
            <a:off x="-1456080" y="373931"/>
            <a:ext cx="3086100" cy="2171499"/>
            <a:chOff x="0" y="0"/>
            <a:chExt cx="812800" cy="57191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E536099-7A0E-1306-5F3A-9B5C6CB72055}"/>
                </a:ext>
              </a:extLst>
            </p:cNvPr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0A21334-3860-C5E9-9503-AEC0185642B3}"/>
                </a:ext>
              </a:extLst>
            </p:cNvPr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A544BC9-8355-B52C-8589-1751E6EAEF01}"/>
              </a:ext>
            </a:extLst>
          </p:cNvPr>
          <p:cNvGrpSpPr/>
          <p:nvPr/>
        </p:nvGrpSpPr>
        <p:grpSpPr>
          <a:xfrm>
            <a:off x="16744950" y="373931"/>
            <a:ext cx="3086100" cy="2171499"/>
            <a:chOff x="0" y="0"/>
            <a:chExt cx="812800" cy="57191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2EEE5CC-2933-BCD6-E20B-0D4F72B7C66B}"/>
                </a:ext>
              </a:extLst>
            </p:cNvPr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9465603-089F-986B-2167-403782934761}"/>
                </a:ext>
              </a:extLst>
            </p:cNvPr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8C562B76-914C-3821-1F89-FE0149711FB0}"/>
              </a:ext>
            </a:extLst>
          </p:cNvPr>
          <p:cNvSpPr txBox="1"/>
          <p:nvPr/>
        </p:nvSpPr>
        <p:spPr>
          <a:xfrm>
            <a:off x="4264442" y="1081856"/>
            <a:ext cx="984608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u="sng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  <a:hlinkClick r:id="rId4" tooltip="https://explainvisually.co/animacje-typu-whiteboard/"/>
              </a:rPr>
              <a:t>ANIMACJA RETRO</a:t>
            </a:r>
          </a:p>
        </p:txBody>
      </p:sp>
      <p:pic>
        <p:nvPicPr>
          <p:cNvPr id="11" name="Multimedia online 10" title="Adventure (Atari 2600) Level 1 play through">
            <a:hlinkClick r:id="" action="ppaction://media"/>
            <a:extLst>
              <a:ext uri="{FF2B5EF4-FFF2-40B4-BE49-F238E27FC236}">
                <a16:creationId xmlns:a16="http://schemas.microsoft.com/office/drawing/2014/main" id="{DC706658-B675-8C0C-7EB9-9282D3DE2FB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3048000" y="1701800"/>
            <a:ext cx="12192000" cy="688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871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/>
          <p:cNvGrpSpPr/>
          <p:nvPr/>
        </p:nvGrpSpPr>
        <p:grpSpPr>
          <a:xfrm>
            <a:off x="-1456080" y="373931"/>
            <a:ext cx="3086100" cy="2171499"/>
            <a:chOff x="0" y="0"/>
            <a:chExt cx="812800" cy="5719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44950" y="373931"/>
            <a:ext cx="3086100" cy="2171499"/>
            <a:chOff x="0" y="0"/>
            <a:chExt cx="812800" cy="5719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72185" y="2450180"/>
            <a:ext cx="16230600" cy="6531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7"/>
              </a:lnSpc>
            </a:pPr>
            <a:r>
              <a:rPr lang="en-US" sz="309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3091" b="1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zometryczny film animowany</a:t>
            </a:r>
          </a:p>
          <a:p>
            <a:pPr algn="l">
              <a:lnSpc>
                <a:spcPts val="4327"/>
              </a:lnSpc>
            </a:pPr>
            <a:r>
              <a:rPr lang="en-US" sz="309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Tworzy iluzje 3D przy użyciu grafiki 2D, idealny do prezentowania złożonych relacji przestrzennych w treściach edukacyjnych i układach architektonicznych. Ekonomiczna alternatywa dla pełnej animacji 3D, z pewnymi ograniczeniami kreatywnymi ze względu na ustalony punkt widzenia.</a:t>
            </a:r>
          </a:p>
          <a:p>
            <a:pPr algn="l">
              <a:lnSpc>
                <a:spcPts val="4327"/>
              </a:lnSpc>
            </a:pPr>
            <a:endParaRPr lang="en-US" sz="3091">
              <a:solidFill>
                <a:srgbClr val="30364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327"/>
              </a:lnSpc>
            </a:pPr>
            <a:r>
              <a:rPr lang="en-US" sz="3091" b="1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Animacja FlipBook</a:t>
            </a:r>
          </a:p>
          <a:p>
            <a:pPr algn="l">
              <a:lnSpc>
                <a:spcPts val="4327"/>
              </a:lnSpc>
            </a:pPr>
            <a:r>
              <a:rPr lang="en-US" sz="309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Elementarna forma animacji wykorzystująca ręcznie rysowane ilustracje na kolejnych stronach. Popularna na platformach mediów społecznościowych o krótkiej formie, oferująca namacalną, ręcznie wykonaną jakość kontrastującej grafiki cyfrowej. Ekonomiczna i wymagająca kreatywności.</a:t>
            </a:r>
          </a:p>
          <a:p>
            <a:pPr algn="l">
              <a:lnSpc>
                <a:spcPts val="4327"/>
              </a:lnSpc>
            </a:pPr>
            <a:endParaRPr lang="en-US" sz="3091">
              <a:solidFill>
                <a:srgbClr val="30364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264442" y="1081856"/>
            <a:ext cx="984608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u="sng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  <a:hlinkClick r:id="rId3" tooltip="https://explainvisually.co/animacje-typu-whiteboard/"/>
              </a:rPr>
              <a:t>INNE TECHNIKI ANIMACJI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/>
          <p:cNvGrpSpPr/>
          <p:nvPr/>
        </p:nvGrpSpPr>
        <p:grpSpPr>
          <a:xfrm>
            <a:off x="-1456080" y="373931"/>
            <a:ext cx="3086100" cy="2171499"/>
            <a:chOff x="0" y="0"/>
            <a:chExt cx="812800" cy="5719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44950" y="373931"/>
            <a:ext cx="3086100" cy="2171499"/>
            <a:chOff x="0" y="0"/>
            <a:chExt cx="812800" cy="5719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72185" y="2450180"/>
            <a:ext cx="16230600" cy="5988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7"/>
              </a:lnSpc>
            </a:pPr>
            <a:r>
              <a:rPr lang="en-US" sz="3091" b="1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Animacja Claymation</a:t>
            </a:r>
          </a:p>
          <a:p>
            <a:pPr algn="l">
              <a:lnSpc>
                <a:spcPts val="4327"/>
              </a:lnSpc>
            </a:pPr>
            <a:r>
              <a:rPr lang="en-US" sz="309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Technika animacji poklatkowej z wykorzystaniem gliny plastelinowej, spopularyzowana przez Aardman Animations. Zachowuje atrakcyjność dzięki namacalnej jakości i uroczym niedoskonałościom. Skuteczna dla młodszej widowni i projektów napędzanych nostalgią.</a:t>
            </a:r>
          </a:p>
          <a:p>
            <a:pPr algn="l">
              <a:lnSpc>
                <a:spcPts val="4327"/>
              </a:lnSpc>
            </a:pPr>
            <a:endParaRPr lang="en-US" sz="3091">
              <a:solidFill>
                <a:srgbClr val="30364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327"/>
              </a:lnSpc>
            </a:pPr>
            <a:r>
              <a:rPr lang="en-US" sz="3091" b="1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Animacja minimalistyczna</a:t>
            </a:r>
          </a:p>
          <a:p>
            <a:pPr algn="l">
              <a:lnSpc>
                <a:spcPts val="4327"/>
              </a:lnSpc>
            </a:pPr>
            <a:r>
              <a:rPr lang="en-US" sz="309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Koncentruje się na podstawowych elementach, aby zapewnić jasny, efektowny przekaz. Jest zgodna z markami kładącymi nacisk na prostotę i wydajność. Rzuca wyzwanie twórcom, aby przekształcili złożone pomysły w podstawowe elementy.</a:t>
            </a:r>
          </a:p>
          <a:p>
            <a:pPr algn="l">
              <a:lnSpc>
                <a:spcPts val="4327"/>
              </a:lnSpc>
            </a:pPr>
            <a:endParaRPr lang="en-US" sz="3091">
              <a:solidFill>
                <a:srgbClr val="30364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264442" y="1081856"/>
            <a:ext cx="984608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u="sng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  <a:hlinkClick r:id="rId3" tooltip="https://explainvisually.co/animacje-typu-whiteboard/"/>
              </a:rPr>
              <a:t>INNE TECHNIKI ANIMACJI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/>
          <p:cNvGrpSpPr/>
          <p:nvPr/>
        </p:nvGrpSpPr>
        <p:grpSpPr>
          <a:xfrm>
            <a:off x="-1456080" y="373931"/>
            <a:ext cx="3086100" cy="2171499"/>
            <a:chOff x="0" y="0"/>
            <a:chExt cx="812800" cy="5719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44950" y="373931"/>
            <a:ext cx="3086100" cy="2171499"/>
            <a:chOff x="0" y="0"/>
            <a:chExt cx="812800" cy="5719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72185" y="2450180"/>
            <a:ext cx="16230600" cy="3274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7"/>
              </a:lnSpc>
            </a:pPr>
            <a:r>
              <a:rPr lang="en-US" sz="3091" b="1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Animacja 360°</a:t>
            </a:r>
          </a:p>
          <a:p>
            <a:pPr algn="l">
              <a:lnSpc>
                <a:spcPts val="4327"/>
              </a:lnSpc>
            </a:pPr>
            <a:r>
              <a:rPr lang="en-US" sz="309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Zanurza widzów w wirtualnych środowiskach, zapoczątkowanych przez branże gier i VR. Tworzy interaktywne „metawersa” do różnych zastosowań, od wirtualnych wycieczek po doświadczenia edukacyjne, zwiększając zaangażowanie użytkowników.</a:t>
            </a:r>
          </a:p>
          <a:p>
            <a:pPr algn="l">
              <a:lnSpc>
                <a:spcPts val="4327"/>
              </a:lnSpc>
            </a:pPr>
            <a:endParaRPr lang="en-US" sz="3091">
              <a:solidFill>
                <a:srgbClr val="30364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264442" y="1081856"/>
            <a:ext cx="984608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u="sng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  <a:hlinkClick r:id="rId4" tooltip="https://explainvisually.co/animacje-typu-whiteboard/"/>
              </a:rPr>
              <a:t>INNE TECHNIKI ANIMACJI</a:t>
            </a:r>
          </a:p>
        </p:txBody>
      </p:sp>
      <p:pic>
        <p:nvPicPr>
          <p:cNvPr id="11" name="Multimedia online 10" title="Passengers&quot;Final Speech Speak Scen&quot;[FullHD|1080p]">
            <a:hlinkClick r:id="" action="ppaction://media"/>
            <a:extLst>
              <a:ext uri="{FF2B5EF4-FFF2-40B4-BE49-F238E27FC236}">
                <a16:creationId xmlns:a16="http://schemas.microsoft.com/office/drawing/2014/main" id="{63EEB864-F97B-AB6F-02D2-BB7569061D6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4257185" y="4762500"/>
            <a:ext cx="9413393" cy="53146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1275</Words>
  <Application>Microsoft Office PowerPoint</Application>
  <PresentationFormat>Niestandardowy</PresentationFormat>
  <Paragraphs>75</Paragraphs>
  <Slides>32</Slides>
  <Notes>0</Notes>
  <HiddenSlides>0</HiddenSlides>
  <MMClips>14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32</vt:i4>
      </vt:variant>
    </vt:vector>
  </HeadingPairs>
  <TitlesOfParts>
    <vt:vector size="38" baseType="lpstr">
      <vt:lpstr>Poppins</vt:lpstr>
      <vt:lpstr>Calibri</vt:lpstr>
      <vt:lpstr>Arial</vt:lpstr>
      <vt:lpstr>League Spartan</vt:lpstr>
      <vt:lpstr>Poppins Bold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Techniki animacji</dc:title>
  <cp:lastModifiedBy>Wiktoria Wróbel</cp:lastModifiedBy>
  <cp:revision>3</cp:revision>
  <dcterms:created xsi:type="dcterms:W3CDTF">2006-08-16T00:00:00Z</dcterms:created>
  <dcterms:modified xsi:type="dcterms:W3CDTF">2026-03-09T07:37:15Z</dcterms:modified>
  <dc:identifier>DAHDYrlh9hA</dc:identifier>
</cp:coreProperties>
</file>